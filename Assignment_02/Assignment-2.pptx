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60" r:id="rId5"/>
    <p:sldId id="278" r:id="rId6"/>
    <p:sldId id="259" r:id="rId7"/>
    <p:sldId id="265" r:id="rId8"/>
    <p:sldId id="279" r:id="rId9"/>
    <p:sldId id="280" r:id="rId10"/>
    <p:sldId id="281" r:id="rId11"/>
    <p:sldId id="282" r:id="rId12"/>
    <p:sldId id="284" r:id="rId13"/>
    <p:sldId id="283" r:id="rId14"/>
    <p:sldId id="276" r:id="rId15"/>
    <p:sldId id="277" r:id="rId16"/>
    <p:sldId id="262" r:id="rId17"/>
    <p:sldId id="263" r:id="rId18"/>
    <p:sldId id="271" r:id="rId19"/>
    <p:sldId id="272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D373E3-C4D0-4FFD-9EA5-B7C1AFF07185}">
          <p14:sldIdLst>
            <p14:sldId id="256"/>
            <p14:sldId id="257"/>
            <p14:sldId id="258"/>
            <p14:sldId id="260"/>
            <p14:sldId id="278"/>
            <p14:sldId id="259"/>
            <p14:sldId id="265"/>
            <p14:sldId id="279"/>
            <p14:sldId id="280"/>
            <p14:sldId id="281"/>
            <p14:sldId id="282"/>
            <p14:sldId id="284"/>
            <p14:sldId id="283"/>
            <p14:sldId id="276"/>
            <p14:sldId id="277"/>
            <p14:sldId id="262"/>
            <p14:sldId id="263"/>
            <p14:sldId id="271"/>
            <p14:sldId id="272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2F0B34-C608-492F-A665-2475246B0B2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994A6-41D4-4A5D-9EA3-DB2F603FF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53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994A6-41D4-4A5D-9EA3-DB2F603FF6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9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994A6-41D4-4A5D-9EA3-DB2F603FF6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61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42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53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431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5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96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781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4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29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4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98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2631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76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0606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10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315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36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4C9DD-F077-4A6A-AE5C-81BA72E9AC0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2F98B8F-7737-45AF-A90A-3C0C8F9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5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C28A8-0DC3-449D-06FA-E57839DA43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Intermediate Code Generation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B5B21-08DF-4587-D525-DEB810721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0196"/>
            <a:ext cx="9144000" cy="2211354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 Compiler Design</a:t>
            </a:r>
            <a:b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YARED MESFIN</a:t>
            </a:r>
            <a:b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ID: 1411368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4" name="Video 33">
            <a:hlinkClick r:id="" action="ppaction://media"/>
            <a:extLst>
              <a:ext uri="{FF2B5EF4-FFF2-40B4-BE49-F238E27FC236}">
                <a16:creationId xmlns:a16="http://schemas.microsoft.com/office/drawing/2014/main" id="{1ADEFF78-3CB5-0CB3-F1D0-0D5BC80FA05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35363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92"/>
    </mc:Choice>
    <mc:Fallback>
      <p:transition spd="slow" advTm="10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47D4-BB45-D6B4-204A-ADF8B903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167" y="475861"/>
            <a:ext cx="8704835" cy="923731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928DD7-6D06-5B77-106E-3BE86C7442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4481" y="1399592"/>
            <a:ext cx="8704835" cy="3175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Compiler Design translates high level programs into machine code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Intermediate Code Generation connects the front end and back end of a compiler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⚙️ It converts programs into a machine independent form called IR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🚀 IR makes compilers portable and easier to optimize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📘 This presentation explains the concept types and importance of IR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Compiler">
            <a:extLst>
              <a:ext uri="{FF2B5EF4-FFF2-40B4-BE49-F238E27FC236}">
                <a16:creationId xmlns:a16="http://schemas.microsoft.com/office/drawing/2014/main" id="{80DB4829-1545-C2CA-0E09-E3867FBD94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1" r="14042"/>
          <a:stretch/>
        </p:blipFill>
        <p:spPr bwMode="auto">
          <a:xfrm>
            <a:off x="1101111" y="4357395"/>
            <a:ext cx="6148776" cy="227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3365202-E378-8F60-28E8-50B5B418F37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5BBE1E2-98D5-8EE8-308E-1EB0FB0FAA8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  <a:ln>
            <a:noFill/>
          </a:ln>
          <a:effectLst>
            <a:outerShdw blurRad="190500" algn="tl" rotWithShape="0">
              <a:srgbClr val="000000">
                <a:alpha val="3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3542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3AC4-19D9-C392-3DB0-205453850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Intermediate Code Generation?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0EF7B1-8488-3EC1-5377-495033EA76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506" y="982377"/>
            <a:ext cx="890540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Code Generation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phase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high level source code into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representation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representation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analyze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optimize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of machine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F4027976-830A-7845-CE77-471AF37C212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7711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E1541-34E4-FF2B-1A3A-92001A3D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Intermediate Code is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1E525-68DE-23F9-E351-975D7CC31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2270"/>
            <a:ext cx="8596668" cy="46697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retargeting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compiler design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independent intermediate code is the key reason modern compilers are portable.</a:t>
            </a:r>
          </a:p>
          <a:p>
            <a:endParaRPr lang="en-US" dirty="0"/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C80BA853-54FC-AC49-AD6B-243043DBFAC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78872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E76D7-4C6D-A25B-CEB5-9A7190691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98580"/>
            <a:ext cx="8596668" cy="755779"/>
          </a:xfrm>
        </p:spPr>
        <p:txBody>
          <a:bodyPr/>
          <a:lstStyle/>
          <a:p>
            <a:r>
              <a:rPr lang="en-US" dirty="0"/>
              <a:t>Role in Compiler Phases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3BBA0C-ED1F-9FE0-1E6A-FD25C7580D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054359"/>
            <a:ext cx="9185122" cy="5803641"/>
          </a:xfrm>
          <a:prstGeom prst="rect">
            <a:avLst/>
          </a:prstGeom>
        </p:spPr>
      </p:pic>
      <p:pic>
        <p:nvPicPr>
          <p:cNvPr id="5" name="Camera 4">
            <a:extLst>
              <a:ext uri="{FF2B5EF4-FFF2-40B4-BE49-F238E27FC236}">
                <a16:creationId xmlns:a16="http://schemas.microsoft.com/office/drawing/2014/main" id="{D1ED799F-BFE6-F153-24BD-C592BE4DE46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47454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0F4E2-D399-F8CE-7EDD-7E510560A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in Compiler Phases</a:t>
            </a:r>
          </a:p>
        </p:txBody>
      </p:sp>
      <p:pic>
        <p:nvPicPr>
          <p:cNvPr id="5" name="Content Placeholder 4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8F97117B-C2E3-B576-1D7B-9D2DCC9B7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10" y="1371600"/>
            <a:ext cx="8117633" cy="4670425"/>
          </a:xfrm>
        </p:spPr>
      </p:pic>
      <p:pic>
        <p:nvPicPr>
          <p:cNvPr id="6" name="Camera 5">
            <a:extLst>
              <a:ext uri="{FF2B5EF4-FFF2-40B4-BE49-F238E27FC236}">
                <a16:creationId xmlns:a16="http://schemas.microsoft.com/office/drawing/2014/main" id="{026840B7-3CC4-48DB-2A98-5A683027AF3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95936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FA647-0FC4-F79D-FA2D-9C1EB658A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1331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Types of Intermediate Code</a:t>
            </a:r>
            <a:endParaRPr lang="en-US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CF3B18-E946-AE08-103B-35BC501B4B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659437"/>
            <a:ext cx="7449629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IRs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AST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DAG(Directed Acyclic Graph</a:t>
            </a:r>
            <a:r>
              <a:rPr lang="en-US" sz="3200" dirty="0"/>
              <a:t>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Control Flow Graph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IRs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Postfix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Three Address Code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9DF67DF7-37FF-12A0-B90A-6DE26CF850A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08083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ECD01-B5F6-58E6-559D-8DCC5D06D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03380"/>
          </a:xfrm>
        </p:spPr>
        <p:txBody>
          <a:bodyPr>
            <a:normAutofit fontScale="90000"/>
          </a:bodyPr>
          <a:lstStyle/>
          <a:p>
            <a:r>
              <a:rPr lang="en-US" dirty="0"/>
              <a:t>📊 </a:t>
            </a:r>
            <a:r>
              <a:rPr lang="en-US" b="1" dirty="0"/>
              <a:t>Graphical IRs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BA0A1-0DB3-A8DE-6399-816BBE9E2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5617"/>
            <a:ext cx="8596668" cy="472574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IRs 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or trees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represent program structure and control flow.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🌳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 (Abstract Syntax Tree)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Shows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structure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program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Removes unnecessary grammar symbols from the parse tree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to analyze semantic meaning  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diagram of a tree&#10;&#10;AI-generated content may be incorrect.">
            <a:extLst>
              <a:ext uri="{FF2B5EF4-FFF2-40B4-BE49-F238E27FC236}">
                <a16:creationId xmlns:a16="http://schemas.microsoft.com/office/drawing/2014/main" id="{FFCAD202-2D49-5B84-3B4B-00865E10B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3582956"/>
            <a:ext cx="6567973" cy="3275044"/>
          </a:xfrm>
          <a:prstGeom prst="rect">
            <a:avLst/>
          </a:prstGeom>
        </p:spPr>
      </p:pic>
      <p:pic>
        <p:nvPicPr>
          <p:cNvPr id="9" name="Camera 8">
            <a:extLst>
              <a:ext uri="{FF2B5EF4-FFF2-40B4-BE49-F238E27FC236}">
                <a16:creationId xmlns:a16="http://schemas.microsoft.com/office/drawing/2014/main" id="{DB782943-EDA6-0B6F-EB7A-D4F905EE8BD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0586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6C60F-DC8C-03A0-9A43-FB4127C63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2710"/>
          </a:xfrm>
        </p:spPr>
        <p:txBody>
          <a:bodyPr>
            <a:normAutofit fontScale="90000"/>
          </a:bodyPr>
          <a:lstStyle/>
          <a:p>
            <a:r>
              <a:rPr lang="en-US" dirty="0"/>
              <a:t>📊 </a:t>
            </a:r>
            <a:r>
              <a:rPr lang="en-US" b="1" dirty="0"/>
              <a:t>Graphical IRs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2B677-7B15-BA87-D651-6320E3E26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0221"/>
            <a:ext cx="8596668" cy="4511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 (Directed Acyclic Graph)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Optimized form of AST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Eliminates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sub expressions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repeated computations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   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 = b * c + b * c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 * c</a:t>
            </a:r>
            <a:r>
              <a:rPr lang="en-US" sz="28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computed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DAG</a:t>
            </a:r>
          </a:p>
        </p:txBody>
      </p:sp>
      <p:pic>
        <p:nvPicPr>
          <p:cNvPr id="8" name="Camera 7">
            <a:extLst>
              <a:ext uri="{FF2B5EF4-FFF2-40B4-BE49-F238E27FC236}">
                <a16:creationId xmlns:a16="http://schemas.microsoft.com/office/drawing/2014/main" id="{1E6BA113-B5A5-B147-371D-43C3277B26C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95886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DA93-9EF1-4501-4458-DA3084663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7355"/>
          </a:xfrm>
        </p:spPr>
        <p:txBody>
          <a:bodyPr/>
          <a:lstStyle/>
          <a:p>
            <a:r>
              <a:rPr lang="en-US" dirty="0"/>
              <a:t>📊 </a:t>
            </a:r>
            <a:r>
              <a:rPr lang="en-US" b="1" dirty="0"/>
              <a:t>Graphical IRs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E5E2-76B0-E5B2-5A8C-544BBC127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6955"/>
            <a:ext cx="8596668" cy="4744407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🔀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Flow Graph (CFG)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Represents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of control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program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Nodes = basic blocks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Edges = control paths (if, else, loops)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represent 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if-else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statements</a:t>
            </a: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4F5B40FE-D71B-4773-CC58-FAD3D9C47EB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130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0F6A-7B97-6301-2E4C-597E08380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597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🧮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IRs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D0B19-5254-E8BF-9220-CBB1C8BE6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3609"/>
            <a:ext cx="8596668" cy="469775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IRs represent code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of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instructtions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Postfix Notation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Operators come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operands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Easy to evaluate using a stack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Infix: (A + B) * C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Postfix: A B + C *</a:t>
            </a:r>
          </a:p>
        </p:txBody>
      </p:sp>
      <p:pic>
        <p:nvPicPr>
          <p:cNvPr id="7" name="Camera 6">
            <a:extLst>
              <a:ext uri="{FF2B5EF4-FFF2-40B4-BE49-F238E27FC236}">
                <a16:creationId xmlns:a16="http://schemas.microsoft.com/office/drawing/2014/main" id="{DBE98FF7-719E-4287-C4D5-69AD599FCE3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691216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3B00-7FFC-2FC6-0012-00A0E3298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🧮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IRs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4EFE9-C4BD-69D3-B924-EE596A0ED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1601"/>
            <a:ext cx="8596668" cy="4669762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⚙️ Three Address Code (TAC)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Each instruction has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most three operands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Uses temporary variables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Close to machine code → easy to optimize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Representations of TAC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Quadruples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-Triples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-Indirect Triples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22C0DFE-DF5F-C437-6EC4-1587A3DB1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55" b="2640"/>
          <a:stretch/>
        </p:blipFill>
        <p:spPr>
          <a:xfrm>
            <a:off x="1026368" y="3428999"/>
            <a:ext cx="2817844" cy="2057400"/>
          </a:xfrm>
          <a:prstGeom prst="rect">
            <a:avLst/>
          </a:prstGeom>
        </p:spPr>
      </p:pic>
      <p:pic>
        <p:nvPicPr>
          <p:cNvPr id="6" name="Camera 5">
            <a:extLst>
              <a:ext uri="{FF2B5EF4-FFF2-40B4-BE49-F238E27FC236}">
                <a16:creationId xmlns:a16="http://schemas.microsoft.com/office/drawing/2014/main" id="{34F8A5B6-BA32-524A-7467-7589D5EF916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32152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79FDB-8F26-D4C5-6855-63C55302A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932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&amp;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0A08D-14A9-7354-573E-490BCD9DF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8923"/>
            <a:ext cx="8596668" cy="4632440"/>
          </a:xfrm>
        </p:spPr>
        <p:txBody>
          <a:bodyPr/>
          <a:lstStyle/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optimization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retargetable compilers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modern compilers</a:t>
            </a:r>
          </a:p>
          <a:p>
            <a:endParaRPr lang="en-US" dirty="0"/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AB28BC34-A394-94A8-19AF-97148837A8A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82249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664D0-C9D3-9642-9990-FC2FEFE67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Java Compiler &amp; Bytecode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10BB1-970B-4673-EC92-B11F1BA2E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1601"/>
            <a:ext cx="8596668" cy="4669762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How Intermediate Code is Used in Java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Java compiler  does not directly generate machine code.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it translates Java source code into Bytecode, which is a form of intermediate code.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Bytecode is: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independent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 by the Java Virtual Machine (JVM)</a:t>
            </a:r>
          </a:p>
          <a:p>
            <a:endParaRPr lang="en-US" dirty="0"/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D0076A52-E447-0CF1-A056-0C4654CE57F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52624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E06D5-7ECB-1EAD-0DD2-7CC2F47BE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865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Compilation Process</a:t>
            </a:r>
          </a:p>
        </p:txBody>
      </p:sp>
      <p:pic>
        <p:nvPicPr>
          <p:cNvPr id="5" name="Content Placeholder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2EB6C3F2-035A-B20D-79CE-103BE64A9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624" y="1324948"/>
            <a:ext cx="7557796" cy="4717078"/>
          </a:xfrm>
        </p:spPr>
      </p:pic>
      <p:pic>
        <p:nvPicPr>
          <p:cNvPr id="3" name="Camera 2">
            <a:extLst>
              <a:ext uri="{FF2B5EF4-FFF2-40B4-BE49-F238E27FC236}">
                <a16:creationId xmlns:a16="http://schemas.microsoft.com/office/drawing/2014/main" id="{A3265415-ADEF-F702-D9E1-E5D2A616216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1276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5340-0444-AD21-E0C5-24A09CFB6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Intermediate Code Generation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A79D9D-E0B9-5CA6-ACAC-497EE43C50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6448" y="1620481"/>
            <a:ext cx="913466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Translation: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Converts source code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representation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Same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representation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work on multiple machines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Improves performance before final code generation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6401A01D-E4A6-CCAB-3DAA-BBC5475DA42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604328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53E6-9631-9787-575E-5F041D59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534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Not Generate Machine Code Directly?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B432DE-FD8B-8E0C-0E85-0A621A3E5C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802119"/>
            <a:ext cx="7850845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machine code is generated directly: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machines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need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compilers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optimizers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intermediate code: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optimizer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code generators for different machines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AB5C2E4D-6435-BC69-2610-FC2137690C4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87766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D66B-DAC4-8974-F1E9-027E98267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534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F18A8F-98D2-E21B-4814-F7C1A041C6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9673" y="1679107"/>
            <a:ext cx="585029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Easier to implement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Facilitates code optimization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Platform independent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reuse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Easier debugging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2437A797-C89B-AAF7-D31C-AAB9D8E9BEC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618237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99BC8-7C65-C45F-3606-664D57624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5388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6C41D7-4C67-85E4-4CAD-79DA67516B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9085" y="1714465"/>
            <a:ext cx="663406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Increased compilation time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Additional memory usage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compiler complexity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Slight performance overhead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5431C7C1-0F15-B23E-3A44-FBE4D337568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64228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FA646-F541-4CFA-43DE-094E3E2D7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46EAE-D4CD-DC8D-0697-85802C205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7543"/>
            <a:ext cx="7300339" cy="44738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Intermediate Code Generation bridges the front end and back end of a compiler 💻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Produces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independent code (IR)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portability and optimization 🌍🚀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Graphical IRs (AST, DAG, CFG) and Linear IRs (Postfix, Three-Address Code) simplify analysis and code generation ⚙️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redundancy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performance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compiler design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6382F3FD-B0EE-6D58-4FAD-01AAD411D43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46959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50E5-030D-8791-EF4C-68D29BACD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129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1D6720-6D22-DA1C-69C4-AF6B688719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168349"/>
            <a:ext cx="8718594" cy="2144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Techniques, and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Compilers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Principles, Techniques &amp; Tools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PDF Notes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compiler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Compiler Design Lecture Notes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4ACB6C84-755E-DDB0-5D52-990556605C0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8338028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222</TotalTime>
  <Words>694</Words>
  <Application>Microsoft Office PowerPoint</Application>
  <PresentationFormat>Widescreen</PresentationFormat>
  <Paragraphs>107</Paragraphs>
  <Slides>21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Arial</vt:lpstr>
      <vt:lpstr>Arial Black</vt:lpstr>
      <vt:lpstr>Times New Roman</vt:lpstr>
      <vt:lpstr>Trebuchet MS</vt:lpstr>
      <vt:lpstr>Wingdings</vt:lpstr>
      <vt:lpstr>Wingdings 3</vt:lpstr>
      <vt:lpstr>Facet</vt:lpstr>
      <vt:lpstr>  Significance of Intermediate Code Generation </vt:lpstr>
      <vt:lpstr>Introduction</vt:lpstr>
      <vt:lpstr>What is Intermediate Code Generation?</vt:lpstr>
      <vt:lpstr>Why Intermediate Code is Used</vt:lpstr>
      <vt:lpstr>Role in Compiler Phases</vt:lpstr>
      <vt:lpstr>Position in Compiler Phases</vt:lpstr>
      <vt:lpstr>Types of Intermediate Code</vt:lpstr>
      <vt:lpstr>📊 Graphical IRs</vt:lpstr>
      <vt:lpstr>📊 Graphical IRs</vt:lpstr>
      <vt:lpstr>📊 Graphical IRs</vt:lpstr>
      <vt:lpstr>🧮 Linear IRs</vt:lpstr>
      <vt:lpstr>🧮 Linear IRs</vt:lpstr>
      <vt:lpstr>Applications &amp; Importance</vt:lpstr>
      <vt:lpstr>Case Study Java Compiler &amp; Bytecode</vt:lpstr>
      <vt:lpstr>Java Compilation Process</vt:lpstr>
      <vt:lpstr>Role of Intermediate Code Generation</vt:lpstr>
      <vt:lpstr>Why Not Generate Machine Code Directly?</vt:lpstr>
      <vt:lpstr>Advantages</vt:lpstr>
      <vt:lpstr>Disadvantages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MSI</dc:creator>
  <cp:lastModifiedBy>yared kefyalew</cp:lastModifiedBy>
  <cp:revision>14</cp:revision>
  <dcterms:created xsi:type="dcterms:W3CDTF">2025-12-17T10:59:26Z</dcterms:created>
  <dcterms:modified xsi:type="dcterms:W3CDTF">2026-01-10T14:06:20Z</dcterms:modified>
</cp:coreProperties>
</file>